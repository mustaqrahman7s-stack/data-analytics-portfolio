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4"/>
  </p:notesMasterIdLst>
  <p:sldIdLst>
    <p:sldId id="256" r:id="rId2"/>
    <p:sldId id="733" r:id="rId3"/>
    <p:sldId id="718" r:id="rId4"/>
    <p:sldId id="720" r:id="rId5"/>
    <p:sldId id="722" r:id="rId6"/>
    <p:sldId id="732" r:id="rId7"/>
    <p:sldId id="724" r:id="rId8"/>
    <p:sldId id="731" r:id="rId9"/>
    <p:sldId id="735" r:id="rId10"/>
    <p:sldId id="736" r:id="rId11"/>
    <p:sldId id="745" r:id="rId12"/>
    <p:sldId id="74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E77699-512F-4A6B-913F-0804087F6B5B}" v="327" dt="2026-06-11T04:24:55.7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p:scale>
          <a:sx n="116" d="100"/>
          <a:sy n="116" d="100"/>
        </p:scale>
        <p:origin x="-258" y="-72"/>
      </p:cViewPr>
      <p:guideLst>
        <p:guide orient="horz" pos="2160"/>
        <p:guide pos="3840"/>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15-07-2026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3A10E10-43AA-D4EA-159F-7D0575C85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4305D88D-3DE0-BEBD-4530-9955F8B0A8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EBD03B9E-6F57-B789-E501-6141178DFC9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98A2C55F-2586-BDAA-291C-3AFBDEC3F36C}"/>
              </a:ext>
            </a:extLst>
          </p:cNvPr>
          <p:cNvSpPr>
            <a:spLocks noGrp="1"/>
          </p:cNvSpPr>
          <p:nvPr>
            <p:ph type="sldNum" sz="quarter" idx="5"/>
          </p:nvPr>
        </p:nvSpPr>
        <p:spPr/>
        <p:txBody>
          <a:bodyPr/>
          <a:lstStyle/>
          <a:p>
            <a:fld id="{47FFB008-8E38-46F5-BCB9-8CFEF233CF3A}" type="slidenum">
              <a:rPr lang="en-IN" smtClean="0"/>
              <a:t>3</a:t>
            </a:fld>
            <a:endParaRPr lang="en-IN" dirty="0"/>
          </a:p>
        </p:txBody>
      </p:sp>
    </p:spTree>
    <p:extLst>
      <p:ext uri="{BB962C8B-B14F-4D97-AF65-F5344CB8AC3E}">
        <p14:creationId xmlns:p14="http://schemas.microsoft.com/office/powerpoint/2010/main" val="3263039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8A0F059-AD8E-3562-B301-F91FEE682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57B38A9E-B6C5-720F-A25C-1770A83E9E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A3C9B899-C659-1E3B-5270-894DC52B3EF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26759CAB-5AED-F18E-ECA5-352CB312F348}"/>
              </a:ext>
            </a:extLst>
          </p:cNvPr>
          <p:cNvSpPr>
            <a:spLocks noGrp="1"/>
          </p:cNvSpPr>
          <p:nvPr>
            <p:ph type="sldNum" sz="quarter" idx="5"/>
          </p:nvPr>
        </p:nvSpPr>
        <p:spPr/>
        <p:txBody>
          <a:bodyPr/>
          <a:lstStyle/>
          <a:p>
            <a:fld id="{47FFB008-8E38-46F5-BCB9-8CFEF233CF3A}" type="slidenum">
              <a:rPr lang="en-IN" smtClean="0"/>
              <a:t>4</a:t>
            </a:fld>
            <a:endParaRPr lang="en-IN" dirty="0"/>
          </a:p>
        </p:txBody>
      </p:sp>
    </p:spTree>
    <p:extLst>
      <p:ext uri="{BB962C8B-B14F-4D97-AF65-F5344CB8AC3E}">
        <p14:creationId xmlns:p14="http://schemas.microsoft.com/office/powerpoint/2010/main" val="1456579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D0ABF2C-BF18-F7DD-7975-E02A225CF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B63AF47B-8E1A-8CAD-7128-6134EE6E06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F053196A-C48D-A0C8-B267-808528E17AE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E13306B2-7C80-7C7D-184E-D7C41482070D}"/>
              </a:ext>
            </a:extLst>
          </p:cNvPr>
          <p:cNvSpPr>
            <a:spLocks noGrp="1"/>
          </p:cNvSpPr>
          <p:nvPr>
            <p:ph type="sldNum" sz="quarter" idx="5"/>
          </p:nvPr>
        </p:nvSpPr>
        <p:spPr/>
        <p:txBody>
          <a:bodyPr/>
          <a:lstStyle/>
          <a:p>
            <a:fld id="{47FFB008-8E38-46F5-BCB9-8CFEF233CF3A}" type="slidenum">
              <a:rPr lang="en-IN" smtClean="0"/>
              <a:t>5</a:t>
            </a:fld>
            <a:endParaRPr lang="en-IN" dirty="0"/>
          </a:p>
        </p:txBody>
      </p:sp>
    </p:spTree>
    <p:extLst>
      <p:ext uri="{BB962C8B-B14F-4D97-AF65-F5344CB8AC3E}">
        <p14:creationId xmlns:p14="http://schemas.microsoft.com/office/powerpoint/2010/main" val="3536149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7ADBE19-4891-1EF0-6195-1A94E8EDF4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26DFA76C-3332-3AE7-B5E2-E05C63F012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D2799852-37CE-C859-3D9C-65B9809E780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DCF1CBAE-4BA1-8712-647A-72103761BADA}"/>
              </a:ext>
            </a:extLst>
          </p:cNvPr>
          <p:cNvSpPr>
            <a:spLocks noGrp="1"/>
          </p:cNvSpPr>
          <p:nvPr>
            <p:ph type="sldNum" sz="quarter" idx="5"/>
          </p:nvPr>
        </p:nvSpPr>
        <p:spPr/>
        <p:txBody>
          <a:bodyPr/>
          <a:lstStyle/>
          <a:p>
            <a:fld id="{47FFB008-8E38-46F5-BCB9-8CFEF233CF3A}" type="slidenum">
              <a:rPr lang="en-IN" smtClean="0"/>
              <a:t>7</a:t>
            </a:fld>
            <a:endParaRPr lang="en-IN" dirty="0"/>
          </a:p>
        </p:txBody>
      </p:sp>
    </p:spTree>
    <p:extLst>
      <p:ext uri="{BB962C8B-B14F-4D97-AF65-F5344CB8AC3E}">
        <p14:creationId xmlns:p14="http://schemas.microsoft.com/office/powerpoint/2010/main" val="4025795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384601-1F97-CFE4-18D8-E40D10C59D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58C43347-865A-5805-D7E9-F4E0958CD1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DA76C741-5213-1686-B3AF-AEBE8DB15AA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4EBFD3D8-3FFA-FC3C-5108-BCC9B0EC066B}"/>
              </a:ext>
            </a:extLst>
          </p:cNvPr>
          <p:cNvSpPr>
            <a:spLocks noGrp="1"/>
          </p:cNvSpPr>
          <p:nvPr>
            <p:ph type="sldNum" sz="quarter" idx="5"/>
          </p:nvPr>
        </p:nvSpPr>
        <p:spPr/>
        <p:txBody>
          <a:bodyPr/>
          <a:lstStyle/>
          <a:p>
            <a:fld id="{47FFB008-8E38-46F5-BCB9-8CFEF233CF3A}" type="slidenum">
              <a:rPr lang="en-IN" smtClean="0"/>
              <a:t>8</a:t>
            </a:fld>
            <a:endParaRPr lang="en-IN" dirty="0"/>
          </a:p>
        </p:txBody>
      </p:sp>
    </p:spTree>
    <p:extLst>
      <p:ext uri="{BB962C8B-B14F-4D97-AF65-F5344CB8AC3E}">
        <p14:creationId xmlns:p14="http://schemas.microsoft.com/office/powerpoint/2010/main" val="1486397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23D6A7-D907-7D12-B66F-6C49B84AE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C6FAC6D3-DC57-1CF0-6A59-58D2E88EBC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0A71BDC7-8DE1-7744-CA52-378CDB43148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DF1A8680-8EBA-EC52-6FDF-78862A444C61}"/>
              </a:ext>
            </a:extLst>
          </p:cNvPr>
          <p:cNvSpPr>
            <a:spLocks noGrp="1"/>
          </p:cNvSpPr>
          <p:nvPr>
            <p:ph type="sldNum" sz="quarter" idx="5"/>
          </p:nvPr>
        </p:nvSpPr>
        <p:spPr/>
        <p:txBody>
          <a:bodyPr/>
          <a:lstStyle/>
          <a:p>
            <a:fld id="{47FFB008-8E38-46F5-BCB9-8CFEF233CF3A}" type="slidenum">
              <a:rPr lang="en-IN" smtClean="0"/>
              <a:t>9</a:t>
            </a:fld>
            <a:endParaRPr lang="en-IN" dirty="0"/>
          </a:p>
        </p:txBody>
      </p:sp>
    </p:spTree>
    <p:extLst>
      <p:ext uri="{BB962C8B-B14F-4D97-AF65-F5344CB8AC3E}">
        <p14:creationId xmlns:p14="http://schemas.microsoft.com/office/powerpoint/2010/main" val="4590615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9CFA227-2C4D-B322-57D0-6BB3BB65E8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DE743191-3DBD-BDED-96CF-F759C6A0B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88B85A71-7BB1-9957-0FB6-9813DFD97A3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xmlns="" id="{44685DCB-D36F-1858-AC62-0B8282E0C0AF}"/>
              </a:ext>
            </a:extLst>
          </p:cNvPr>
          <p:cNvSpPr>
            <a:spLocks noGrp="1"/>
          </p:cNvSpPr>
          <p:nvPr>
            <p:ph type="sldNum" sz="quarter" idx="5"/>
          </p:nvPr>
        </p:nvSpPr>
        <p:spPr/>
        <p:txBody>
          <a:bodyPr/>
          <a:lstStyle/>
          <a:p>
            <a:fld id="{47FFB008-8E38-46F5-BCB9-8CFEF233CF3A}" type="slidenum">
              <a:rPr lang="en-IN" smtClean="0"/>
              <a:t>10</a:t>
            </a:fld>
            <a:endParaRPr lang="en-IN" dirty="0"/>
          </a:p>
        </p:txBody>
      </p:sp>
    </p:spTree>
    <p:extLst>
      <p:ext uri="{BB962C8B-B14F-4D97-AF65-F5344CB8AC3E}">
        <p14:creationId xmlns:p14="http://schemas.microsoft.com/office/powerpoint/2010/main" val="36157795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xmlns=""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xmlns=""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xmlns=""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xmlns=""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xmlns=""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xmlns=""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xmlns=""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xmlns=""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xmlns=""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xmlns=""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xmlns=""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xmlns=""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xmlns=""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xmlns=""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xmlns=""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xmlns=""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xmlns=""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xmlns=""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4400" b="1" dirty="0" smtClean="0"/>
              <a:t>Predicting Company Bankruptcies</a:t>
            </a:r>
            <a:endParaRPr lang="en-US" sz="4400" b="1" dirty="0">
              <a:solidFill>
                <a:schemeClr val="bg1"/>
              </a:solidFill>
              <a:ea typeface="Calibri"/>
              <a:cs typeface="Calibri"/>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712AE6-1A3B-29F6-E3E8-7D595A18B684}"/>
              </a:ext>
            </a:extLst>
          </p:cNvPr>
          <p:cNvSpPr>
            <a:spLocks noGrp="1"/>
          </p:cNvSpPr>
          <p:nvPr>
            <p:ph type="title"/>
          </p:nvPr>
        </p:nvSpPr>
        <p:spPr>
          <a:xfrm>
            <a:off x="337751" y="330297"/>
            <a:ext cx="10854612" cy="612775"/>
          </a:xfrm>
        </p:spPr>
        <p:txBody>
          <a:bodyPr>
            <a:normAutofit fontScale="90000"/>
          </a:bodyPr>
          <a:lstStyle/>
          <a:p>
            <a:r>
              <a:rPr lang="en-US" sz="3800" dirty="0">
                <a:latin typeface="Calibri"/>
                <a:ea typeface="Calibri"/>
                <a:cs typeface="Calibri"/>
              </a:rPr>
              <a:t>P</a:t>
            </a:r>
            <a:r>
              <a:rPr lang="en-US" sz="3800" dirty="0" smtClean="0">
                <a:latin typeface="Calibri"/>
                <a:ea typeface="Calibri"/>
                <a:cs typeface="Calibri"/>
              </a:rPr>
              <a:t>roblem Statement </a:t>
            </a:r>
            <a:r>
              <a:rPr lang="en-US" sz="3600" b="0" dirty="0" smtClean="0">
                <a:solidFill>
                  <a:srgbClr val="000000"/>
                </a:solidFill>
                <a:latin typeface="Calibri"/>
                <a:ea typeface="Calibri"/>
                <a:cs typeface="Calibri"/>
              </a:rPr>
              <a:t> </a:t>
            </a:r>
            <a:r>
              <a:rPr lang="en-US" sz="3600" b="0" dirty="0" smtClean="0">
                <a:latin typeface="Calibri"/>
                <a:ea typeface="Calibri"/>
                <a:cs typeface="Calibri"/>
              </a:rPr>
              <a:t> </a:t>
            </a:r>
            <a:r>
              <a:rPr lang="en-US" dirty="0">
                <a:latin typeface="Calibri"/>
                <a:ea typeface="Calibri"/>
                <a:cs typeface="Calibri"/>
              </a:rPr>
              <a:t/>
            </a:r>
            <a:br>
              <a:rPr lang="en-US" dirty="0">
                <a:latin typeface="Calibri"/>
                <a:ea typeface="Calibri"/>
                <a:cs typeface="Calibri"/>
              </a:rPr>
            </a:br>
            <a:endParaRPr lang="en-US" dirty="0">
              <a:ea typeface="Calibri"/>
              <a:cs typeface="Calibri"/>
            </a:endParaRPr>
          </a:p>
        </p:txBody>
      </p:sp>
      <p:sp>
        <p:nvSpPr>
          <p:cNvPr id="3" name="Content Placeholder 2">
            <a:extLst>
              <a:ext uri="{FF2B5EF4-FFF2-40B4-BE49-F238E27FC236}">
                <a16:creationId xmlns:a16="http://schemas.microsoft.com/office/drawing/2014/main" xmlns="" id="{8EE2F42F-A23A-7063-63D3-1884A6ED0E9D}"/>
              </a:ext>
            </a:extLst>
          </p:cNvPr>
          <p:cNvSpPr>
            <a:spLocks noGrp="1"/>
          </p:cNvSpPr>
          <p:nvPr>
            <p:ph idx="1"/>
          </p:nvPr>
        </p:nvSpPr>
        <p:spPr>
          <a:xfrm>
            <a:off x="187716" y="1032426"/>
            <a:ext cx="11495245" cy="5040715"/>
          </a:xfrm>
        </p:spPr>
        <p:txBody>
          <a:bodyPr vert="horz" lIns="91440" tIns="45720" rIns="91440" bIns="45720" rtlCol="0" anchor="t">
            <a:normAutofit/>
          </a:bodyPr>
          <a:lstStyle/>
          <a:p>
            <a:pPr marL="0" indent="0">
              <a:buNone/>
            </a:pPr>
            <a:r>
              <a:rPr lang="en-US" sz="3200" dirty="0" smtClean="0">
                <a:solidFill>
                  <a:srgbClr val="000000"/>
                </a:solidFill>
                <a:latin typeface="Arial"/>
                <a:ea typeface="Calibri"/>
                <a:cs typeface="Arial"/>
              </a:rPr>
              <a:t>• </a:t>
            </a:r>
            <a:r>
              <a:rPr lang="en-US" sz="3200" dirty="0"/>
              <a:t>Many organizations struggle to identify financial distress before bankruptcy occurs. Traditional financial analysis often fails to capture complex relationships between multiple financial variables.</a:t>
            </a:r>
          </a:p>
          <a:p>
            <a:r>
              <a:rPr lang="en-US" sz="3200" dirty="0"/>
              <a:t>The objective of this project is to build a machine learning model capable of accurately predicting whether a company is financially healthy or at risk of bankruptcy.</a:t>
            </a:r>
          </a:p>
          <a:p>
            <a:pPr>
              <a:buNone/>
            </a:pPr>
            <a:endParaRPr lang="en-US" sz="3200" dirty="0" smtClean="0">
              <a:solidFill>
                <a:srgbClr val="000000"/>
              </a:solidFill>
              <a:ea typeface="Calibri"/>
              <a:cs typeface="Calibri"/>
            </a:endParaRPr>
          </a:p>
          <a:p>
            <a:pPr marL="0" indent="0" algn="ctr">
              <a:buNone/>
            </a:pPr>
            <a:endParaRPr lang="en-US" sz="3200" dirty="0">
              <a:ea typeface="Calibri"/>
              <a:cs typeface="Calibri"/>
            </a:endParaRPr>
          </a:p>
          <a:p>
            <a:pPr marL="0" indent="0">
              <a:buNone/>
            </a:pPr>
            <a:endParaRPr lang="en-US" sz="3200" dirty="0">
              <a:solidFill>
                <a:srgbClr val="181717"/>
              </a:solidFill>
              <a:latin typeface="Calibri"/>
              <a:ea typeface="Calibri"/>
              <a:cs typeface="Calibri"/>
            </a:endParaRPr>
          </a:p>
          <a:p>
            <a:pPr marL="0" indent="0">
              <a:buNone/>
            </a:pPr>
            <a:endParaRPr lang="en-US" dirty="0">
              <a:latin typeface="Calibri"/>
              <a:ea typeface="Calibri"/>
              <a:cs typeface="Calibri"/>
            </a:endParaRPr>
          </a:p>
          <a:p>
            <a:pPr marL="0" indent="0">
              <a:buNone/>
            </a:pPr>
            <a:endParaRPr lang="en-US" dirty="0">
              <a:latin typeface="Calibri"/>
              <a:ea typeface="Calibri"/>
              <a:cs typeface="Calibri"/>
            </a:endParaRPr>
          </a:p>
        </p:txBody>
      </p:sp>
    </p:spTree>
    <p:extLst>
      <p:ext uri="{BB962C8B-B14F-4D97-AF65-F5344CB8AC3E}">
        <p14:creationId xmlns:p14="http://schemas.microsoft.com/office/powerpoint/2010/main" val="3793253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563760C-1F2F-E10F-55B8-3EAAE76825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CFB9DBF9-2736-20C4-8CEA-033275230F6E}"/>
              </a:ext>
            </a:extLst>
          </p:cNvPr>
          <p:cNvSpPr>
            <a:spLocks noGrp="1"/>
          </p:cNvSpPr>
          <p:nvPr>
            <p:ph type="title"/>
          </p:nvPr>
        </p:nvSpPr>
        <p:spPr>
          <a:xfrm>
            <a:off x="339198" y="511859"/>
            <a:ext cx="11173920" cy="704582"/>
          </a:xfrm>
        </p:spPr>
        <p:txBody>
          <a:bodyPr>
            <a:normAutofit/>
          </a:bodyPr>
          <a:lstStyle/>
          <a:p>
            <a:r>
              <a:rPr lang="en-US" sz="3200" dirty="0">
                <a:solidFill>
                  <a:srgbClr val="000000"/>
                </a:solidFill>
                <a:latin typeface="Calibri"/>
                <a:ea typeface="Calibri"/>
                <a:cs typeface="Calibri"/>
              </a:rPr>
              <a:t> </a:t>
            </a:r>
            <a:r>
              <a:rPr lang="en-US" sz="3200" dirty="0" smtClean="0">
                <a:solidFill>
                  <a:srgbClr val="000000"/>
                </a:solidFill>
                <a:latin typeface="Calibri"/>
                <a:ea typeface="Calibri"/>
                <a:cs typeface="Calibri"/>
              </a:rPr>
              <a:t>Objectives</a:t>
            </a:r>
            <a:r>
              <a:rPr lang="en-US" sz="3200" b="0" dirty="0">
                <a:solidFill>
                  <a:srgbClr val="161A3E"/>
                </a:solidFill>
                <a:latin typeface="Calibri"/>
                <a:ea typeface="Calibri"/>
                <a:cs typeface="Calibri"/>
              </a:rPr>
              <a:t> </a:t>
            </a:r>
            <a:endParaRPr lang="en-US" dirty="0">
              <a:latin typeface="Calibri"/>
            </a:endParaRPr>
          </a:p>
        </p:txBody>
      </p:sp>
      <p:sp>
        <p:nvSpPr>
          <p:cNvPr id="6" name="Rectangle 3">
            <a:extLst>
              <a:ext uri="{FF2B5EF4-FFF2-40B4-BE49-F238E27FC236}">
                <a16:creationId xmlns:a16="http://schemas.microsoft.com/office/drawing/2014/main" xmlns="" id="{9A70CCFB-5125-769A-E6E2-0C8D2D641268}"/>
              </a:ext>
            </a:extLst>
          </p:cNvPr>
          <p:cNvSpPr>
            <a:spLocks noGrp="1" noChangeArrowheads="1"/>
          </p:cNvSpPr>
          <p:nvPr>
            <p:ph idx="1"/>
          </p:nvPr>
        </p:nvSpPr>
        <p:spPr bwMode="auto">
          <a:xfrm>
            <a:off x="194994" y="1544778"/>
            <a:ext cx="8344885" cy="2604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rmAutofit/>
          </a:bodyPr>
          <a:lstStyle/>
          <a:p>
            <a:pPr marL="0" indent="0" eaLnBrk="0" fontAlgn="base" hangingPunct="0">
              <a:lnSpc>
                <a:spcPct val="150000"/>
              </a:lnSpc>
              <a:spcBef>
                <a:spcPct val="0"/>
              </a:spcBef>
              <a:spcAft>
                <a:spcPct val="0"/>
              </a:spcAft>
              <a:buFont typeface="Arial"/>
              <a:buChar char="•"/>
            </a:pPr>
            <a:endParaRPr lang="en-US" altLang="en-US" i="0" u="none" strike="noStrike" cap="none" normalizeH="0" baseline="0" dirty="0">
              <a:ln>
                <a:noFill/>
              </a:ln>
              <a:solidFill>
                <a:schemeClr val="tx1"/>
              </a:solidFill>
              <a:effectLst/>
              <a:latin typeface="Arial" panose="020B0604020202020204" pitchFamily="34" charset="0"/>
              <a:cs typeface="Arial"/>
            </a:endParaRPr>
          </a:p>
          <a:p>
            <a:pPr marL="0" indent="0" eaLnBrk="0" fontAlgn="base" hangingPunct="0">
              <a:lnSpc>
                <a:spcPct val="150000"/>
              </a:lnSpc>
              <a:spcBef>
                <a:spcPct val="0"/>
              </a:spcBef>
              <a:spcAft>
                <a:spcPct val="0"/>
              </a:spcAft>
              <a:buNone/>
            </a:pPr>
            <a:endParaRPr lang="en-US" altLang="en-US" sz="2200" b="1" i="0" u="none" strike="noStrike" cap="none" normalizeH="0" baseline="0" dirty="0">
              <a:ln>
                <a:noFill/>
              </a:ln>
              <a:solidFill>
                <a:schemeClr val="tx1"/>
              </a:solidFill>
              <a:effectLst/>
              <a:latin typeface="Arial" panose="020B0604020202020204" pitchFamily="34" charset="0"/>
              <a:cs typeface="Arial"/>
            </a:endParaRPr>
          </a:p>
        </p:txBody>
      </p:sp>
      <p:sp>
        <p:nvSpPr>
          <p:cNvPr id="5" name="TextBox 4">
            <a:extLst>
              <a:ext uri="{FF2B5EF4-FFF2-40B4-BE49-F238E27FC236}">
                <a16:creationId xmlns:a16="http://schemas.microsoft.com/office/drawing/2014/main" xmlns="" id="{EFA0064E-C5BC-99D6-77B1-0C18157DB7C2}"/>
              </a:ext>
            </a:extLst>
          </p:cNvPr>
          <p:cNvSpPr txBox="1"/>
          <p:nvPr/>
        </p:nvSpPr>
        <p:spPr>
          <a:xfrm>
            <a:off x="472808" y="1322025"/>
            <a:ext cx="9391878"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dirty="0"/>
              <a:t>Analyze financial data of companies. </a:t>
            </a:r>
            <a:endParaRPr lang="en-US" sz="3200" dirty="0" smtClean="0"/>
          </a:p>
          <a:p>
            <a:pPr marL="457200" indent="-457200">
              <a:buFont typeface="Arial"/>
              <a:buChar char="•"/>
            </a:pPr>
            <a:r>
              <a:rPr lang="en-US" sz="3200" dirty="0" smtClean="0"/>
              <a:t>Perform </a:t>
            </a:r>
            <a:r>
              <a:rPr lang="en-US" sz="3200" dirty="0"/>
              <a:t>data cleaning and preprocessing. </a:t>
            </a:r>
            <a:endParaRPr lang="en-US" sz="3200" dirty="0" smtClean="0"/>
          </a:p>
          <a:p>
            <a:pPr marL="457200" indent="-457200">
              <a:buFont typeface="Arial"/>
              <a:buChar char="•"/>
            </a:pPr>
            <a:r>
              <a:rPr lang="en-US" sz="3200" dirty="0" smtClean="0"/>
              <a:t>Explore </a:t>
            </a:r>
            <a:r>
              <a:rPr lang="en-US" sz="3200" dirty="0"/>
              <a:t>important financial indicators</a:t>
            </a:r>
            <a:r>
              <a:rPr lang="en-US" sz="3200" dirty="0" smtClean="0"/>
              <a:t>.</a:t>
            </a:r>
          </a:p>
          <a:p>
            <a:pPr marL="457200" indent="-457200">
              <a:buFont typeface="Arial"/>
              <a:buChar char="•"/>
            </a:pPr>
            <a:r>
              <a:rPr lang="en-US" sz="3200" dirty="0" smtClean="0"/>
              <a:t> </a:t>
            </a:r>
            <a:r>
              <a:rPr lang="en-US" sz="3200" dirty="0"/>
              <a:t>Build multiple machine learning models. </a:t>
            </a:r>
            <a:endParaRPr lang="en-US" sz="3200" dirty="0" smtClean="0"/>
          </a:p>
          <a:p>
            <a:pPr marL="457200" indent="-457200">
              <a:buFont typeface="Arial"/>
              <a:buChar char="•"/>
            </a:pPr>
            <a:r>
              <a:rPr lang="en-US" sz="3200" dirty="0" smtClean="0"/>
              <a:t>Compare </a:t>
            </a:r>
            <a:r>
              <a:rPr lang="en-US" sz="3200" dirty="0"/>
              <a:t>model performance. </a:t>
            </a:r>
            <a:endParaRPr lang="en-US" sz="3200" dirty="0" smtClean="0"/>
          </a:p>
          <a:p>
            <a:pPr marL="457200" indent="-457200">
              <a:buFont typeface="Arial"/>
              <a:buChar char="•"/>
            </a:pPr>
            <a:r>
              <a:rPr lang="en-US" sz="3200" dirty="0" smtClean="0"/>
              <a:t>Identify </a:t>
            </a:r>
            <a:r>
              <a:rPr lang="en-US" sz="3200" dirty="0"/>
              <a:t>the most accurate model for bankruptcy prediction.</a:t>
            </a:r>
            <a:endParaRPr lang="en-GB" sz="3200" dirty="0">
              <a:solidFill>
                <a:srgbClr val="000000"/>
              </a:solidFill>
              <a:ea typeface="Calibri"/>
              <a:cs typeface="Calibri"/>
            </a:endParaRPr>
          </a:p>
          <a:p>
            <a:endParaRPr lang="en-GB" sz="2800" dirty="0">
              <a:solidFill>
                <a:srgbClr val="000000"/>
              </a:solidFill>
              <a:latin typeface="Calibri"/>
              <a:ea typeface="Calibri"/>
              <a:cs typeface="Calibri"/>
            </a:endParaRPr>
          </a:p>
          <a:p>
            <a:pPr algn="ctr"/>
            <a:endParaRPr lang="en-GB" sz="2800" dirty="0">
              <a:ea typeface="Calibri"/>
              <a:cs typeface="Calibri"/>
            </a:endParaRPr>
          </a:p>
        </p:txBody>
      </p:sp>
    </p:spTree>
    <p:extLst>
      <p:ext uri="{BB962C8B-B14F-4D97-AF65-F5344CB8AC3E}">
        <p14:creationId xmlns:p14="http://schemas.microsoft.com/office/powerpoint/2010/main" val="2766298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855875E-B010-9E90-DE52-202A051AE80E}"/>
            </a:ext>
          </a:extLst>
        </p:cNvPr>
        <p:cNvGrpSpPr/>
        <p:nvPr/>
      </p:nvGrpSpPr>
      <p:grpSpPr>
        <a:xfrm>
          <a:off x="0" y="0"/>
          <a:ext cx="0" cy="0"/>
          <a:chOff x="0" y="0"/>
          <a:chExt cx="0" cy="0"/>
        </a:xfrm>
      </p:grpSpPr>
      <p:sp>
        <p:nvSpPr>
          <p:cNvPr id="6" name="Rectangle 3">
            <a:extLst>
              <a:ext uri="{FF2B5EF4-FFF2-40B4-BE49-F238E27FC236}">
                <a16:creationId xmlns:a16="http://schemas.microsoft.com/office/drawing/2014/main" xmlns="" id="{66683BDF-A1E9-CD59-A869-A8B6EF1DB0EB}"/>
              </a:ext>
            </a:extLst>
          </p:cNvPr>
          <p:cNvSpPr>
            <a:spLocks noGrp="1" noChangeArrowheads="1"/>
          </p:cNvSpPr>
          <p:nvPr>
            <p:ph idx="1"/>
          </p:nvPr>
        </p:nvSpPr>
        <p:spPr bwMode="auto">
          <a:xfrm>
            <a:off x="453508" y="2520778"/>
            <a:ext cx="11736218" cy="4098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rmAutofit fontScale="62500" lnSpcReduction="20000"/>
          </a:bodyPr>
          <a:lstStyle/>
          <a:p>
            <a:r>
              <a:rPr lang="en-IN" b="1" dirty="0"/>
              <a:t>Dataset</a:t>
            </a:r>
          </a:p>
          <a:p>
            <a:r>
              <a:rPr lang="en-IN" dirty="0"/>
              <a:t>Source: Company Financial Dataset </a:t>
            </a:r>
          </a:p>
          <a:p>
            <a:r>
              <a:rPr lang="en-IN" dirty="0"/>
              <a:t>Industry: Corporate Finance </a:t>
            </a:r>
          </a:p>
          <a:p>
            <a:r>
              <a:rPr lang="en-IN" dirty="0"/>
              <a:t>Target Variable: </a:t>
            </a:r>
          </a:p>
          <a:p>
            <a:pPr lvl="1"/>
            <a:r>
              <a:rPr lang="en-IN" dirty="0"/>
              <a:t>0 → Healthy Company </a:t>
            </a:r>
          </a:p>
          <a:p>
            <a:pPr lvl="1"/>
            <a:r>
              <a:rPr lang="en-IN" dirty="0"/>
              <a:t>1 → Bankrupt Company </a:t>
            </a:r>
            <a:endParaRPr lang="en-IN" dirty="0" smtClean="0"/>
          </a:p>
          <a:p>
            <a:pPr lvl="1"/>
            <a:endParaRPr lang="en-IN" dirty="0"/>
          </a:p>
          <a:p>
            <a:r>
              <a:rPr lang="en-IN" b="1" dirty="0"/>
              <a:t>Dataset Features</a:t>
            </a:r>
          </a:p>
          <a:p>
            <a:r>
              <a:rPr lang="en-IN" dirty="0"/>
              <a:t>Liquidity Ratios </a:t>
            </a:r>
          </a:p>
          <a:p>
            <a:r>
              <a:rPr lang="en-IN" dirty="0"/>
              <a:t>Profitability Ratios </a:t>
            </a:r>
          </a:p>
          <a:p>
            <a:r>
              <a:rPr lang="en-IN" dirty="0"/>
              <a:t>Solvency Ratios </a:t>
            </a:r>
          </a:p>
          <a:p>
            <a:r>
              <a:rPr lang="en-IN" dirty="0"/>
              <a:t>Cash Flow Ratios </a:t>
            </a:r>
          </a:p>
          <a:p>
            <a:r>
              <a:rPr lang="en-IN" dirty="0"/>
              <a:t>Operational Efficiency Metrics</a:t>
            </a:r>
          </a:p>
          <a:p>
            <a:pPr marL="0" indent="0">
              <a:buNone/>
            </a:pPr>
            <a:endParaRPr lang="en-GB" sz="3200" dirty="0">
              <a:solidFill>
                <a:srgbClr val="000000"/>
              </a:solidFill>
              <a:latin typeface="Calibri"/>
              <a:ea typeface="Calibri"/>
              <a:cs typeface="Calibri"/>
            </a:endParaRPr>
          </a:p>
          <a:p>
            <a:pPr>
              <a:buFont typeface="Arial"/>
              <a:buChar char="•"/>
            </a:pPr>
            <a:endParaRPr lang="en-GB" sz="3200" dirty="0">
              <a:solidFill>
                <a:srgbClr val="000000"/>
              </a:solidFill>
              <a:ea typeface="Calibri"/>
              <a:cs typeface="Calibri"/>
            </a:endParaRPr>
          </a:p>
          <a:p>
            <a:pPr marL="0" indent="0">
              <a:buNone/>
            </a:pPr>
            <a:endParaRPr lang="en-GB" sz="3200" dirty="0">
              <a:solidFill>
                <a:srgbClr val="181717"/>
              </a:solidFill>
              <a:ea typeface="Calibri"/>
              <a:cs typeface="Calibri"/>
            </a:endParaRPr>
          </a:p>
          <a:p>
            <a:pPr>
              <a:buFont typeface="Arial"/>
              <a:buChar char="•"/>
            </a:pPr>
            <a:endParaRPr lang="en-GB" sz="3200" dirty="0">
              <a:ea typeface="Calibri" panose="020F0502020204030204" pitchFamily="34" charset="0"/>
              <a:cs typeface="Calibri" panose="020F0502020204030204" pitchFamily="34" charset="0"/>
            </a:endParaRPr>
          </a:p>
          <a:p>
            <a:pPr>
              <a:buFont typeface="Arial"/>
            </a:pPr>
            <a:endParaRPr lang="en-GB" sz="3200" dirty="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xmlns="" id="{7E6D61BA-8DDC-ED04-0AFD-A907A6017406}"/>
              </a:ext>
            </a:extLst>
          </p:cNvPr>
          <p:cNvSpPr txBox="1"/>
          <p:nvPr/>
        </p:nvSpPr>
        <p:spPr>
          <a:xfrm>
            <a:off x="377072" y="754144"/>
            <a:ext cx="4367752"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b="1" dirty="0">
                <a:solidFill>
                  <a:srgbClr val="161A3E"/>
                </a:solidFill>
                <a:latin typeface="Calibri"/>
              </a:rPr>
              <a:t>Dataset Overv</a:t>
            </a:r>
            <a:r>
              <a:rPr lang="en-US" sz="3400" b="1">
                <a:solidFill>
                  <a:srgbClr val="161A3E"/>
                </a:solidFill>
                <a:latin typeface="Calibri"/>
              </a:rPr>
              <a:t>iew</a:t>
            </a:r>
            <a:endParaRPr lang="en-US" sz="3200">
              <a:ea typeface="Calibri"/>
              <a:cs typeface="Calibri"/>
            </a:endParaRPr>
          </a:p>
        </p:txBody>
      </p:sp>
    </p:spTree>
    <p:extLst>
      <p:ext uri="{BB962C8B-B14F-4D97-AF65-F5344CB8AC3E}">
        <p14:creationId xmlns:p14="http://schemas.microsoft.com/office/powerpoint/2010/main" val="2454363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xmlns="" id="{A647EC8F-E128-5783-0595-2B20DEC4DA2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E03DECCF-A9E3-4AA1-AEF9-F86F7B6CC923}"/>
              </a:ext>
            </a:extLst>
          </p:cNvPr>
          <p:cNvSpPr>
            <a:spLocks noGrp="1"/>
          </p:cNvSpPr>
          <p:nvPr>
            <p:ph type="title"/>
          </p:nvPr>
        </p:nvSpPr>
        <p:spPr>
          <a:xfrm>
            <a:off x="403653" y="1367482"/>
            <a:ext cx="8303741" cy="3945924"/>
          </a:xfrm>
        </p:spPr>
        <p:txBody>
          <a:bodyPr vert="horz" lIns="91440" tIns="45720" rIns="91440" bIns="45720" rtlCol="0" anchor="b">
            <a:noAutofit/>
          </a:bodyPr>
          <a:lstStyle/>
          <a:p>
            <a:r>
              <a:rPr lang="en-US" sz="1800" b="0" dirty="0" smtClean="0"/>
              <a:t>1.Methodology</a:t>
            </a:r>
            <a:r>
              <a:rPr lang="en-US" sz="1800" b="0" dirty="0"/>
              <a:t/>
            </a:r>
            <a:br>
              <a:rPr lang="en-US" sz="1800" b="0" dirty="0"/>
            </a:br>
            <a:r>
              <a:rPr lang="en-US" sz="1800" b="0" dirty="0" smtClean="0"/>
              <a:t>2.Data </a:t>
            </a:r>
            <a:r>
              <a:rPr lang="en-US" sz="1800" b="0" dirty="0"/>
              <a:t>Collection </a:t>
            </a:r>
            <a:br>
              <a:rPr lang="en-US" sz="1800" b="0" dirty="0"/>
            </a:br>
            <a:r>
              <a:rPr lang="en-US" sz="1800" b="0" dirty="0" smtClean="0"/>
              <a:t>3.Data </a:t>
            </a:r>
            <a:r>
              <a:rPr lang="en-US" sz="1800" b="0" dirty="0"/>
              <a:t>Cleaning </a:t>
            </a:r>
            <a:br>
              <a:rPr lang="en-US" sz="1800" b="0" dirty="0"/>
            </a:br>
            <a:r>
              <a:rPr lang="en-US" sz="1800" b="0" dirty="0" smtClean="0"/>
              <a:t>4.Exploratory </a:t>
            </a:r>
            <a:r>
              <a:rPr lang="en-US" sz="1800" b="0" dirty="0"/>
              <a:t>Data Analysis </a:t>
            </a:r>
            <a:br>
              <a:rPr lang="en-US" sz="1800" b="0" dirty="0"/>
            </a:br>
            <a:r>
              <a:rPr lang="en-US" sz="1800" b="0" dirty="0" smtClean="0"/>
              <a:t>5.Feature </a:t>
            </a:r>
            <a:r>
              <a:rPr lang="en-US" sz="1800" b="0" dirty="0"/>
              <a:t>Selection </a:t>
            </a:r>
            <a:br>
              <a:rPr lang="en-US" sz="1800" b="0" dirty="0"/>
            </a:br>
            <a:r>
              <a:rPr lang="en-US" sz="1800" b="0" dirty="0" smtClean="0"/>
              <a:t>6.Data </a:t>
            </a:r>
            <a:r>
              <a:rPr lang="en-US" sz="1800" b="0" dirty="0"/>
              <a:t>Splitting </a:t>
            </a:r>
            <a:br>
              <a:rPr lang="en-US" sz="1800" b="0" dirty="0"/>
            </a:br>
            <a:r>
              <a:rPr lang="en-US" sz="1800" b="0" dirty="0" smtClean="0"/>
              <a:t>7.Model </a:t>
            </a:r>
            <a:r>
              <a:rPr lang="en-US" sz="1800" b="0" dirty="0"/>
              <a:t>Building </a:t>
            </a:r>
            <a:br>
              <a:rPr lang="en-US" sz="1800" b="0" dirty="0"/>
            </a:br>
            <a:r>
              <a:rPr lang="en-US" sz="1800" b="0" dirty="0" smtClean="0"/>
              <a:t>8.Model </a:t>
            </a:r>
            <a:r>
              <a:rPr lang="en-US" sz="1800" b="0" dirty="0"/>
              <a:t>Evaluation </a:t>
            </a:r>
            <a:br>
              <a:rPr lang="en-US" sz="1800" b="0" dirty="0"/>
            </a:br>
            <a:r>
              <a:rPr lang="en-US" sz="1800" b="0" dirty="0" smtClean="0"/>
              <a:t>9.Performance </a:t>
            </a:r>
            <a:r>
              <a:rPr lang="en-US" sz="1800" b="0" dirty="0"/>
              <a:t>Comparison</a:t>
            </a:r>
            <a:r>
              <a:rPr lang="en-US" sz="1800" dirty="0"/>
              <a:t/>
            </a:r>
            <a:br>
              <a:rPr lang="en-US" sz="1800" dirty="0"/>
            </a:br>
            <a:endParaRPr lang="en-US" sz="1800" b="0" dirty="0">
              <a:solidFill>
                <a:srgbClr val="000000"/>
              </a:solidFill>
              <a:ea typeface="Calibri"/>
              <a:cs typeface="Calibri"/>
            </a:endParaRPr>
          </a:p>
          <a:p>
            <a:pPr marL="457200" indent="-457200">
              <a:buFont typeface="Arial"/>
              <a:buChar char="•"/>
            </a:pPr>
            <a:endParaRPr lang="en-US" sz="3200" b="0" dirty="0">
              <a:latin typeface="Calibri"/>
              <a:ea typeface="Calibri"/>
              <a:cs typeface="Calibri"/>
            </a:endParaRPr>
          </a:p>
          <a:p>
            <a:endParaRPr lang="en-US" sz="3200" b="0" dirty="0">
              <a:ea typeface="Calibri"/>
              <a:cs typeface="Calibri"/>
            </a:endParaRPr>
          </a:p>
          <a:p>
            <a:endParaRPr lang="en-US" sz="2200" b="0" kern="1200" dirty="0">
              <a:latin typeface="+mj-lt"/>
              <a:ea typeface="Calibri Light"/>
              <a:cs typeface="Calibri Light"/>
            </a:endParaRPr>
          </a:p>
        </p:txBody>
      </p:sp>
      <p:grpSp>
        <p:nvGrpSpPr>
          <p:cNvPr id="18" name="Group 17">
            <a:extLst>
              <a:ext uri="{FF2B5EF4-FFF2-40B4-BE49-F238E27FC236}">
                <a16:creationId xmlns:a16="http://schemas.microsoft.com/office/drawing/2014/main" xmlns="" id="{6258F736-B256-8039-9DC6-F4E49A5C5AD5}"/>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flipH="1">
            <a:off x="12068638" y="0"/>
            <a:ext cx="123362" cy="6858000"/>
            <a:chOff x="12068638" y="0"/>
            <a:chExt cx="123362" cy="6858000"/>
          </a:xfrm>
        </p:grpSpPr>
        <p:sp>
          <p:nvSpPr>
            <p:cNvPr id="14" name="Rectangle 13">
              <a:extLst>
                <a:ext uri="{FF2B5EF4-FFF2-40B4-BE49-F238E27FC236}">
                  <a16:creationId xmlns:a16="http://schemas.microsoft.com/office/drawing/2014/main" xmlns="" id="{10B4520A-996E-330C-99DA-69CA4D89E90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xmlns="" id="{EC8FA945-E356-695F-18D6-CAD4EF34FE4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xmlns="" id="{2D8AA5D5-5484-B4D5-DB8D-8DEF7C394220}"/>
              </a:ext>
            </a:extLst>
          </p:cNvPr>
          <p:cNvSpPr txBox="1"/>
          <p:nvPr/>
        </p:nvSpPr>
        <p:spPr>
          <a:xfrm>
            <a:off x="403653" y="403144"/>
            <a:ext cx="640241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600" b="1" dirty="0" smtClean="0"/>
              <a:t>Project </a:t>
            </a:r>
            <a:r>
              <a:rPr lang="en-IN" sz="3600" b="1" dirty="0"/>
              <a:t>Workflow</a:t>
            </a:r>
            <a:endParaRPr lang="en-GB" sz="4400" b="1" dirty="0">
              <a:solidFill>
                <a:srgbClr val="000000"/>
              </a:solidFill>
              <a:ea typeface="Calibri"/>
              <a:cs typeface="Calibri"/>
            </a:endParaRPr>
          </a:p>
        </p:txBody>
      </p:sp>
    </p:spTree>
    <p:extLst>
      <p:ext uri="{BB962C8B-B14F-4D97-AF65-F5344CB8AC3E}">
        <p14:creationId xmlns:p14="http://schemas.microsoft.com/office/powerpoint/2010/main" val="271236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01AD3B-3D28-CFCA-54DE-E89A80D83C44}"/>
              </a:ext>
            </a:extLst>
          </p:cNvPr>
          <p:cNvSpPr>
            <a:spLocks noGrp="1"/>
          </p:cNvSpPr>
          <p:nvPr>
            <p:ph type="title"/>
          </p:nvPr>
        </p:nvSpPr>
        <p:spPr>
          <a:xfrm>
            <a:off x="700216" y="1497360"/>
            <a:ext cx="10812902" cy="4508024"/>
          </a:xfrm>
        </p:spPr>
        <p:txBody>
          <a:bodyPr>
            <a:normAutofit/>
          </a:bodyPr>
          <a:lstStyle/>
          <a:p>
            <a:r>
              <a:rPr lang="en-US" sz="1800" b="0" dirty="0"/>
              <a:t>The dataset was prepared before training the models.</a:t>
            </a:r>
            <a:br>
              <a:rPr lang="en-US" sz="1800" b="0" dirty="0"/>
            </a:br>
            <a:r>
              <a:rPr lang="en-US" sz="1800" b="0" dirty="0" smtClean="0"/>
              <a:t>  </a:t>
            </a:r>
            <a:br>
              <a:rPr lang="en-US" sz="1800" b="0" dirty="0" smtClean="0"/>
            </a:br>
            <a:r>
              <a:rPr lang="en-US" sz="1800" b="0" dirty="0" smtClean="0"/>
              <a:t> Steps Performed:</a:t>
            </a:r>
            <a:br>
              <a:rPr lang="en-US" sz="1800" b="0" dirty="0" smtClean="0"/>
            </a:br>
            <a:r>
              <a:rPr lang="en-US" sz="1800" b="0" dirty="0"/>
              <a:t/>
            </a:r>
            <a:br>
              <a:rPr lang="en-US" sz="1800" b="0" dirty="0"/>
            </a:br>
            <a:r>
              <a:rPr lang="en-US" sz="1800" b="0" dirty="0" smtClean="0"/>
              <a:t>1.Removed </a:t>
            </a:r>
            <a:r>
              <a:rPr lang="en-US" sz="1800" b="0" dirty="0"/>
              <a:t>duplicate records </a:t>
            </a:r>
            <a:br>
              <a:rPr lang="en-US" sz="1800" b="0" dirty="0"/>
            </a:br>
            <a:r>
              <a:rPr lang="en-US" sz="1800" b="0" dirty="0" smtClean="0"/>
              <a:t>2.Checked </a:t>
            </a:r>
            <a:r>
              <a:rPr lang="en-US" sz="1800" b="0" dirty="0"/>
              <a:t>missing values </a:t>
            </a:r>
            <a:br>
              <a:rPr lang="en-US" sz="1800" b="0" dirty="0"/>
            </a:br>
            <a:r>
              <a:rPr lang="en-US" sz="1800" b="0" dirty="0" smtClean="0"/>
              <a:t>3.Standardized </a:t>
            </a:r>
            <a:r>
              <a:rPr lang="en-US" sz="1800" b="0" dirty="0"/>
              <a:t>numerical features </a:t>
            </a:r>
            <a:br>
              <a:rPr lang="en-US" sz="1800" b="0" dirty="0"/>
            </a:br>
            <a:r>
              <a:rPr lang="en-US" sz="1800" b="0" dirty="0" smtClean="0"/>
              <a:t>4.Balanced </a:t>
            </a:r>
            <a:r>
              <a:rPr lang="en-US" sz="1800" b="0" dirty="0"/>
              <a:t>target classes where required </a:t>
            </a:r>
            <a:br>
              <a:rPr lang="en-US" sz="1800" b="0" dirty="0"/>
            </a:br>
            <a:r>
              <a:rPr lang="en-US" sz="1800" b="0" dirty="0" smtClean="0"/>
              <a:t>5.Split </a:t>
            </a:r>
            <a:r>
              <a:rPr lang="en-US" sz="1800" b="0" dirty="0"/>
              <a:t>data into training and testing datasets </a:t>
            </a:r>
            <a:r>
              <a:rPr lang="en-US" sz="1800" b="0" dirty="0" smtClean="0"/>
              <a:t/>
            </a:r>
            <a:br>
              <a:rPr lang="en-US" sz="1800" b="0" dirty="0" smtClean="0"/>
            </a:br>
            <a:r>
              <a:rPr lang="en-US" sz="1800" b="0" dirty="0"/>
              <a:t/>
            </a:r>
            <a:br>
              <a:rPr lang="en-US" sz="1800" b="0" dirty="0"/>
            </a:br>
            <a:r>
              <a:rPr lang="en-US" sz="1800" b="0" dirty="0"/>
              <a:t>Proper preprocessing improves model accuracy and reduces prediction </a:t>
            </a:r>
            <a:r>
              <a:rPr lang="en-US" sz="1800" b="0" dirty="0" smtClean="0"/>
              <a:t>errors</a:t>
            </a:r>
            <a:r>
              <a:rPr lang="en-US" sz="3200" b="0" dirty="0"/>
              <a:t/>
            </a:r>
            <a:br>
              <a:rPr lang="en-US" sz="3200" b="0" dirty="0"/>
            </a:br>
            <a:endParaRPr lang="en-US" sz="3200" b="0" dirty="0">
              <a:solidFill>
                <a:srgbClr val="000000"/>
              </a:solidFill>
              <a:latin typeface="Calibri"/>
              <a:ea typeface="Calibri"/>
              <a:cs typeface="Calibri"/>
            </a:endParaRPr>
          </a:p>
          <a:p>
            <a:pPr>
              <a:buFont typeface="Arial"/>
              <a:buChar char="•"/>
            </a:pPr>
            <a:endParaRPr lang="en-US" sz="2800" b="0" dirty="0">
              <a:solidFill>
                <a:srgbClr val="181717"/>
              </a:solidFill>
              <a:ea typeface="Calibri"/>
              <a:cs typeface="Calibri"/>
            </a:endParaRPr>
          </a:p>
          <a:p>
            <a:pPr marL="285750" indent="-285750">
              <a:spcBef>
                <a:spcPts val="1000"/>
              </a:spcBef>
              <a:buFont typeface="Arial"/>
              <a:buChar char="•"/>
            </a:pPr>
            <a:endParaRPr lang="en-US" sz="2800" b="0" dirty="0">
              <a:solidFill>
                <a:srgbClr val="181717"/>
              </a:solidFill>
              <a:ea typeface="Calibri"/>
              <a:cs typeface="Calibri"/>
            </a:endParaRPr>
          </a:p>
        </p:txBody>
      </p:sp>
      <p:sp>
        <p:nvSpPr>
          <p:cNvPr id="3" name="TextBox 2">
            <a:extLst>
              <a:ext uri="{FF2B5EF4-FFF2-40B4-BE49-F238E27FC236}">
                <a16:creationId xmlns:a16="http://schemas.microsoft.com/office/drawing/2014/main" xmlns="" id="{E2D17D1D-829D-B51D-9310-AC52A03E5D3F}"/>
              </a:ext>
            </a:extLst>
          </p:cNvPr>
          <p:cNvSpPr txBox="1"/>
          <p:nvPr/>
        </p:nvSpPr>
        <p:spPr>
          <a:xfrm>
            <a:off x="801276" y="332911"/>
            <a:ext cx="7022969"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b="1">
                <a:solidFill>
                  <a:srgbClr val="161A3E"/>
                </a:solidFill>
                <a:ea typeface="Calibri"/>
                <a:cs typeface="Calibri"/>
              </a:rPr>
              <a:t>Data Preprocessing</a:t>
            </a:r>
          </a:p>
        </p:txBody>
      </p:sp>
    </p:spTree>
    <p:extLst>
      <p:ext uri="{BB962C8B-B14F-4D97-AF65-F5344CB8AC3E}">
        <p14:creationId xmlns:p14="http://schemas.microsoft.com/office/powerpoint/2010/main" val="3538476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8A74011-EF85-C3AF-4051-0F9841277776}"/>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xmlns="" id="{CE510E4C-CC25-9D6E-C2AB-F582D6F26606}"/>
              </a:ext>
            </a:extLst>
          </p:cNvPr>
          <p:cNvSpPr>
            <a:spLocks noGrp="1"/>
          </p:cNvSpPr>
          <p:nvPr>
            <p:ph idx="1"/>
          </p:nvPr>
        </p:nvSpPr>
        <p:spPr>
          <a:xfrm>
            <a:off x="605944" y="1557664"/>
            <a:ext cx="11508375" cy="4519579"/>
          </a:xfrm>
        </p:spPr>
        <p:txBody>
          <a:bodyPr vert="horz" lIns="91440" tIns="45720" rIns="91440" bIns="45720" rtlCol="0" anchor="t">
            <a:normAutofit/>
          </a:bodyPr>
          <a:lstStyle/>
          <a:p>
            <a:pPr marL="0" indent="0">
              <a:buNone/>
            </a:pPr>
            <a:r>
              <a:rPr lang="en-US" sz="1800" b="1" dirty="0" smtClean="0"/>
              <a:t>    Exploratory </a:t>
            </a:r>
            <a:r>
              <a:rPr lang="en-US" sz="1800" b="1" dirty="0"/>
              <a:t>Data Analysis</a:t>
            </a:r>
          </a:p>
          <a:p>
            <a:r>
              <a:rPr lang="en-US" sz="1800" dirty="0"/>
              <a:t>EDA was conducted to understand the structure and characteristics of the dataset.</a:t>
            </a:r>
          </a:p>
          <a:p>
            <a:r>
              <a:rPr lang="en-US" sz="1800" dirty="0"/>
              <a:t>Key observations include:</a:t>
            </a:r>
          </a:p>
          <a:p>
            <a:r>
              <a:rPr lang="en-US" sz="1800" dirty="0"/>
              <a:t>Distribution of bankrupt and non-bankrupt companies </a:t>
            </a:r>
          </a:p>
          <a:p>
            <a:r>
              <a:rPr lang="en-US" sz="1800" dirty="0"/>
              <a:t>Correlation among financial variables </a:t>
            </a:r>
          </a:p>
          <a:p>
            <a:r>
              <a:rPr lang="en-US" sz="1800" dirty="0"/>
              <a:t>Detection of outliers </a:t>
            </a:r>
          </a:p>
          <a:p>
            <a:r>
              <a:rPr lang="en-US" sz="1800" dirty="0"/>
              <a:t>Identification of highly influential features</a:t>
            </a:r>
          </a:p>
          <a:p>
            <a:pPr>
              <a:buNone/>
            </a:pPr>
            <a:endParaRPr lang="en-GB" sz="1800" dirty="0">
              <a:solidFill>
                <a:srgbClr val="000000"/>
              </a:solidFill>
              <a:latin typeface="Calibri"/>
              <a:ea typeface="Calibri"/>
              <a:cs typeface="Calibri"/>
            </a:endParaRPr>
          </a:p>
          <a:p>
            <a:pPr marL="0" indent="0">
              <a:buNone/>
            </a:pPr>
            <a:endParaRPr lang="en-GB" dirty="0">
              <a:ea typeface="Calibri" panose="020F0502020204030204" pitchFamily="34" charset="0"/>
              <a:cs typeface="Calibri" panose="020F0502020204030204" pitchFamily="34" charset="0"/>
            </a:endParaRPr>
          </a:p>
        </p:txBody>
      </p:sp>
      <p:pic>
        <p:nvPicPr>
          <p:cNvPr id="9222" name="Picture 6">
            <a:extLst>
              <a:ext uri="{FF2B5EF4-FFF2-40B4-BE49-F238E27FC236}">
                <a16:creationId xmlns:a16="http://schemas.microsoft.com/office/drawing/2014/main" xmlns="" id="{C775EADE-7019-81BD-C0FB-1FD7F1D620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04146" y="7329237"/>
            <a:ext cx="10440061" cy="4332848"/>
          </a:xfrm>
          <a:prstGeom prst="rect">
            <a:avLst/>
          </a:prstGeom>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xmlns="" id="{69174A8C-4CB3-67C0-7728-E99051C2F929}"/>
              </a:ext>
            </a:extLst>
          </p:cNvPr>
          <p:cNvSpPr txBox="1"/>
          <p:nvPr/>
        </p:nvSpPr>
        <p:spPr>
          <a:xfrm>
            <a:off x="756765" y="603282"/>
            <a:ext cx="588082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t>Exploratory Data Analysis</a:t>
            </a:r>
            <a:endParaRPr lang="en-US" sz="3600" b="1" dirty="0"/>
          </a:p>
        </p:txBody>
      </p:sp>
    </p:spTree>
    <p:extLst>
      <p:ext uri="{BB962C8B-B14F-4D97-AF65-F5344CB8AC3E}">
        <p14:creationId xmlns:p14="http://schemas.microsoft.com/office/powerpoint/2010/main" val="3516173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88FC1FD-E3FB-40E4-904F-81EAF77C0E2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xmlns="" id="{52952FAF-1D06-648D-B670-4F2BECFE9735}"/>
              </a:ext>
            </a:extLst>
          </p:cNvPr>
          <p:cNvSpPr>
            <a:spLocks noGrp="1" noChangeArrowheads="1"/>
          </p:cNvSpPr>
          <p:nvPr>
            <p:ph idx="1"/>
          </p:nvPr>
        </p:nvSpPr>
        <p:spPr bwMode="auto">
          <a:xfrm>
            <a:off x="323206" y="1360236"/>
            <a:ext cx="11189345" cy="3461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rmAutofit/>
          </a:bodyPr>
          <a:lstStyle/>
          <a:p>
            <a:pPr marL="0" indent="0">
              <a:buNone/>
            </a:pPr>
            <a:r>
              <a:rPr lang="en-US" sz="1900" b="1" dirty="0" smtClean="0"/>
              <a:t>    Models </a:t>
            </a:r>
            <a:r>
              <a:rPr lang="en-US" sz="1900" b="1" dirty="0"/>
              <a:t>Implemented</a:t>
            </a:r>
          </a:p>
          <a:p>
            <a:r>
              <a:rPr lang="en-US" sz="1900" dirty="0"/>
              <a:t>Several classification algorithms were trained and evaluated:</a:t>
            </a:r>
          </a:p>
          <a:p>
            <a:r>
              <a:rPr lang="en-US" sz="1900" dirty="0"/>
              <a:t>Logistic Regression </a:t>
            </a:r>
          </a:p>
          <a:p>
            <a:r>
              <a:rPr lang="en-US" sz="1900" dirty="0"/>
              <a:t>Decision Tree </a:t>
            </a:r>
          </a:p>
          <a:p>
            <a:r>
              <a:rPr lang="en-US" sz="1900" dirty="0"/>
              <a:t>Random Forest </a:t>
            </a:r>
          </a:p>
          <a:p>
            <a:r>
              <a:rPr lang="en-US" sz="1900" dirty="0"/>
              <a:t>Voting Classifier </a:t>
            </a:r>
          </a:p>
          <a:p>
            <a:pPr marL="0" indent="0">
              <a:buNone/>
            </a:pPr>
            <a:r>
              <a:rPr lang="en-US" sz="1900" dirty="0" smtClean="0"/>
              <a:t>     Each </a:t>
            </a:r>
            <a:r>
              <a:rPr lang="en-US" sz="1900" dirty="0"/>
              <a:t>model was assessed using the same training and testing data.</a:t>
            </a:r>
          </a:p>
          <a:p>
            <a:pPr marL="0" indent="0" algn="just">
              <a:buNone/>
            </a:pPr>
            <a:endParaRPr lang="en-US" sz="1900" dirty="0">
              <a:solidFill>
                <a:srgbClr val="000000"/>
              </a:solidFill>
              <a:ea typeface="Calibri" panose="020F0502020204030204" pitchFamily="34" charset="0"/>
              <a:cs typeface="Calibri" panose="020F0502020204030204" pitchFamily="34" charset="0"/>
            </a:endParaRPr>
          </a:p>
          <a:p>
            <a:pPr marL="0" indent="0" algn="just">
              <a:lnSpc>
                <a:spcPct val="100000"/>
              </a:lnSpc>
              <a:spcBef>
                <a:spcPct val="0"/>
              </a:spcBef>
              <a:spcAft>
                <a:spcPct val="0"/>
              </a:spcAft>
              <a:buFont typeface="Arial"/>
              <a:buChar char="•"/>
            </a:pPr>
            <a:endParaRPr lang="en-US" dirty="0">
              <a:solidFill>
                <a:schemeClr val="tx1"/>
              </a:solidFill>
              <a:latin typeface="Calibri"/>
              <a:ea typeface="Calibri"/>
              <a:cs typeface="Calibri"/>
            </a:endParaRPr>
          </a:p>
          <a:p>
            <a:pPr marL="0" indent="0">
              <a:lnSpc>
                <a:spcPct val="100000"/>
              </a:lnSpc>
              <a:spcBef>
                <a:spcPct val="0"/>
              </a:spcBef>
              <a:spcAft>
                <a:spcPct val="0"/>
              </a:spcAft>
              <a:buFontTx/>
              <a:buChar char="•"/>
            </a:pPr>
            <a:endParaRPr lang="en-US" altLang="en-US" dirty="0">
              <a:solidFill>
                <a:schemeClr val="tx1"/>
              </a:solidFill>
              <a:latin typeface="Arial" panose="020B0604020202020204" pitchFamily="34" charset="0"/>
              <a:cs typeface="Arial"/>
            </a:endParaRPr>
          </a:p>
        </p:txBody>
      </p:sp>
      <p:sp>
        <p:nvSpPr>
          <p:cNvPr id="3" name="TextBox 2">
            <a:extLst>
              <a:ext uri="{FF2B5EF4-FFF2-40B4-BE49-F238E27FC236}">
                <a16:creationId xmlns:a16="http://schemas.microsoft.com/office/drawing/2014/main" xmlns="" id="{AB842A55-5FD0-93EC-2CC3-CFDF5F489D24}"/>
              </a:ext>
            </a:extLst>
          </p:cNvPr>
          <p:cNvSpPr txBox="1"/>
          <p:nvPr/>
        </p:nvSpPr>
        <p:spPr>
          <a:xfrm>
            <a:off x="606211" y="446366"/>
            <a:ext cx="657316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600" b="1" dirty="0"/>
              <a:t>Machine Learning Models</a:t>
            </a:r>
            <a:endParaRPr lang="en-US" sz="3400" b="1" dirty="0">
              <a:solidFill>
                <a:srgbClr val="161A3E"/>
              </a:solidFill>
              <a:ea typeface="Calibri"/>
              <a:cs typeface="Calibri"/>
            </a:endParaRPr>
          </a:p>
        </p:txBody>
      </p:sp>
    </p:spTree>
    <p:extLst>
      <p:ext uri="{BB962C8B-B14F-4D97-AF65-F5344CB8AC3E}">
        <p14:creationId xmlns:p14="http://schemas.microsoft.com/office/powerpoint/2010/main" val="1759669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211007-E23A-39C0-89EE-573ECEF58F7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xmlns="" id="{B0939E9A-FE63-E528-AEA3-A61F519127DD}"/>
              </a:ext>
            </a:extLst>
          </p:cNvPr>
          <p:cNvSpPr>
            <a:spLocks noGrp="1" noChangeArrowheads="1"/>
          </p:cNvSpPr>
          <p:nvPr>
            <p:ph idx="1"/>
          </p:nvPr>
        </p:nvSpPr>
        <p:spPr bwMode="auto">
          <a:xfrm>
            <a:off x="296562" y="1320166"/>
            <a:ext cx="11334358" cy="5539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rmAutofit/>
          </a:bodyPr>
          <a:lstStyle/>
          <a:p>
            <a:pPr marL="0" indent="0">
              <a:buNone/>
            </a:pPr>
            <a:r>
              <a:rPr lang="en-US" sz="1800" b="1" dirty="0" smtClean="0"/>
              <a:t>     Evaluation </a:t>
            </a:r>
            <a:r>
              <a:rPr lang="en-US" sz="1800" b="1" dirty="0"/>
              <a:t>Metrics</a:t>
            </a:r>
          </a:p>
          <a:p>
            <a:r>
              <a:rPr lang="en-US" sz="1800" dirty="0"/>
              <a:t>The models were evaluated using:</a:t>
            </a:r>
          </a:p>
          <a:p>
            <a:r>
              <a:rPr lang="en-US" sz="1800" dirty="0"/>
              <a:t>Accuracy </a:t>
            </a:r>
          </a:p>
          <a:p>
            <a:r>
              <a:rPr lang="en-US" sz="1800" dirty="0"/>
              <a:t>Precision </a:t>
            </a:r>
          </a:p>
          <a:p>
            <a:r>
              <a:rPr lang="en-US" sz="1800" dirty="0"/>
              <a:t>Recall </a:t>
            </a:r>
          </a:p>
          <a:p>
            <a:r>
              <a:rPr lang="en-US" sz="1800" dirty="0"/>
              <a:t>F1-Score </a:t>
            </a:r>
          </a:p>
          <a:p>
            <a:r>
              <a:rPr lang="en-US" sz="1800" dirty="0"/>
              <a:t>ROC-AUC Score </a:t>
            </a:r>
          </a:p>
          <a:p>
            <a:r>
              <a:rPr lang="en-US" sz="1800" dirty="0"/>
              <a:t>Confusion Matrix </a:t>
            </a:r>
          </a:p>
          <a:p>
            <a:pPr marL="0" indent="0">
              <a:buNone/>
            </a:pPr>
            <a:r>
              <a:rPr lang="en-US" sz="1800" dirty="0" smtClean="0"/>
              <a:t>     These </a:t>
            </a:r>
            <a:r>
              <a:rPr lang="en-US" sz="1800" dirty="0"/>
              <a:t>metrics provide a complete understanding of classification performance.</a:t>
            </a:r>
          </a:p>
          <a:p>
            <a:pPr>
              <a:buNone/>
            </a:pPr>
            <a:endParaRPr lang="en-US" sz="3200" dirty="0">
              <a:solidFill>
                <a:srgbClr val="000000"/>
              </a:solidFill>
              <a:ea typeface="Calibri"/>
              <a:cs typeface="Calibri"/>
            </a:endParaRPr>
          </a:p>
          <a:p>
            <a:pPr marL="0" indent="0">
              <a:buNone/>
            </a:pPr>
            <a:endParaRPr lang="en-US" sz="3200" dirty="0">
              <a:solidFill>
                <a:schemeClr val="tx1"/>
              </a:solidFill>
              <a:latin typeface="Arial"/>
              <a:ea typeface="Calibri" panose="020F0502020204030204" pitchFamily="34" charset="0"/>
              <a:cs typeface="Arial"/>
            </a:endParaRPr>
          </a:p>
          <a:p>
            <a:pPr marL="0" indent="0">
              <a:lnSpc>
                <a:spcPct val="100000"/>
              </a:lnSpc>
              <a:spcBef>
                <a:spcPct val="0"/>
              </a:spcBef>
              <a:spcAft>
                <a:spcPct val="0"/>
              </a:spcAft>
              <a:buFont typeface="Arial"/>
              <a:buChar char="•"/>
            </a:pPr>
            <a:endParaRPr lang="en-US" dirty="0">
              <a:solidFill>
                <a:schemeClr val="tx1"/>
              </a:solidFill>
              <a:latin typeface="Calibri"/>
              <a:ea typeface="Calibri"/>
              <a:cs typeface="Calibri"/>
            </a:endParaRPr>
          </a:p>
          <a:p>
            <a:pPr marL="0" indent="0">
              <a:lnSpc>
                <a:spcPct val="100000"/>
              </a:lnSpc>
              <a:spcBef>
                <a:spcPct val="0"/>
              </a:spcBef>
              <a:spcAft>
                <a:spcPct val="0"/>
              </a:spcAft>
              <a:buFontTx/>
              <a:buChar char="•"/>
            </a:pPr>
            <a:endParaRPr lang="en-US" altLang="en-US" dirty="0">
              <a:solidFill>
                <a:schemeClr val="tx1"/>
              </a:solidFill>
              <a:latin typeface="Arial" panose="020B0604020202020204" pitchFamily="34" charset="0"/>
              <a:cs typeface="Arial"/>
            </a:endParaRPr>
          </a:p>
        </p:txBody>
      </p:sp>
      <p:sp>
        <p:nvSpPr>
          <p:cNvPr id="3" name="TextBox 2">
            <a:extLst>
              <a:ext uri="{FF2B5EF4-FFF2-40B4-BE49-F238E27FC236}">
                <a16:creationId xmlns:a16="http://schemas.microsoft.com/office/drawing/2014/main" xmlns="" id="{EBCD4612-38A8-B35F-977E-BA73091D180E}"/>
              </a:ext>
            </a:extLst>
          </p:cNvPr>
          <p:cNvSpPr txBox="1"/>
          <p:nvPr/>
        </p:nvSpPr>
        <p:spPr>
          <a:xfrm>
            <a:off x="521067" y="427614"/>
            <a:ext cx="558741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600" b="1" dirty="0"/>
              <a:t>Model Evaluation Metrics</a:t>
            </a:r>
            <a:endParaRPr lang="en-US" sz="3400" b="1" dirty="0">
              <a:solidFill>
                <a:srgbClr val="000000"/>
              </a:solidFill>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670725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8F4A89A-8F1B-64F1-219F-B882C2B7D69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xmlns="" id="{FE761FA9-45C8-A7F8-99F3-A23F490BDEF6}"/>
              </a:ext>
            </a:extLst>
          </p:cNvPr>
          <p:cNvSpPr>
            <a:spLocks noGrp="1" noChangeArrowheads="1"/>
          </p:cNvSpPr>
          <p:nvPr>
            <p:ph idx="1"/>
          </p:nvPr>
        </p:nvSpPr>
        <p:spPr bwMode="auto">
          <a:xfrm>
            <a:off x="115330" y="1532238"/>
            <a:ext cx="11190075" cy="4480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rmAutofit/>
          </a:bodyPr>
          <a:lstStyle/>
          <a:p>
            <a:pPr>
              <a:buNone/>
            </a:pPr>
            <a:endParaRPr lang="en-US" sz="3200" dirty="0">
              <a:solidFill>
                <a:srgbClr val="000000"/>
              </a:solidFill>
              <a:latin typeface="Arial"/>
              <a:ea typeface="Calibri"/>
              <a:cs typeface="Arial"/>
            </a:endParaRPr>
          </a:p>
          <a:p>
            <a:pPr marL="0" indent="0">
              <a:buNone/>
            </a:pPr>
            <a:r>
              <a:rPr lang="en-US" sz="1800" b="1" dirty="0" smtClean="0"/>
              <a:t>     Confusion </a:t>
            </a:r>
            <a:r>
              <a:rPr lang="en-US" sz="1800" b="1" dirty="0"/>
              <a:t>Matrix</a:t>
            </a:r>
          </a:p>
          <a:p>
            <a:pPr marL="0" indent="0">
              <a:buNone/>
            </a:pPr>
            <a:r>
              <a:rPr lang="en-US" sz="1800" dirty="0" smtClean="0"/>
              <a:t>    The </a:t>
            </a:r>
            <a:r>
              <a:rPr lang="en-US" sz="1800" dirty="0"/>
              <a:t>confusion matrix illustrates how well the model distinguishes between bankrupt and healthy companies.</a:t>
            </a:r>
          </a:p>
          <a:p>
            <a:pPr marL="0" indent="0">
              <a:buNone/>
            </a:pPr>
            <a:r>
              <a:rPr lang="en-US" sz="1800" dirty="0" smtClean="0"/>
              <a:t>     It </a:t>
            </a:r>
            <a:r>
              <a:rPr lang="en-US" sz="1800" dirty="0"/>
              <a:t>displays:</a:t>
            </a:r>
          </a:p>
          <a:p>
            <a:r>
              <a:rPr lang="en-US" sz="1800" dirty="0"/>
              <a:t>True Positives </a:t>
            </a:r>
          </a:p>
          <a:p>
            <a:r>
              <a:rPr lang="en-US" sz="1800" dirty="0"/>
              <a:t>True Negatives </a:t>
            </a:r>
          </a:p>
          <a:p>
            <a:r>
              <a:rPr lang="en-US" sz="1800" dirty="0"/>
              <a:t>False Positives </a:t>
            </a:r>
          </a:p>
          <a:p>
            <a:r>
              <a:rPr lang="en-US" sz="1800" dirty="0"/>
              <a:t>False Negatives</a:t>
            </a:r>
          </a:p>
          <a:p>
            <a:pPr>
              <a:buNone/>
            </a:pPr>
            <a:endParaRPr lang="en-US" sz="3200" dirty="0">
              <a:solidFill>
                <a:srgbClr val="000000"/>
              </a:solidFill>
              <a:ea typeface="Calibri"/>
              <a:cs typeface="Calibri"/>
            </a:endParaRPr>
          </a:p>
          <a:p>
            <a:pPr>
              <a:buFont typeface="Arial"/>
              <a:buChar char="•"/>
            </a:pPr>
            <a:endParaRPr lang="en-US" sz="3200" dirty="0">
              <a:solidFill>
                <a:srgbClr val="000000"/>
              </a:solidFill>
              <a:latin typeface="Calibri"/>
              <a:ea typeface="Calibri"/>
              <a:cs typeface="Calibri"/>
            </a:endParaRPr>
          </a:p>
          <a:p>
            <a:pPr>
              <a:buFont typeface="Arial"/>
              <a:buChar char="•"/>
            </a:pPr>
            <a:endParaRPr lang="en-US" sz="3200" dirty="0">
              <a:solidFill>
                <a:srgbClr val="000000"/>
              </a:solidFill>
              <a:latin typeface="Calibri"/>
              <a:ea typeface="Calibri"/>
              <a:cs typeface="Calibri"/>
            </a:endParaRPr>
          </a:p>
          <a:p>
            <a:pPr marL="0" indent="0">
              <a:buNone/>
            </a:pPr>
            <a:endParaRPr lang="en-US" sz="3200" dirty="0">
              <a:solidFill>
                <a:srgbClr val="000000"/>
              </a:solidFill>
              <a:latin typeface="Calibri"/>
              <a:ea typeface="Calibri"/>
              <a:cs typeface="Calibri"/>
            </a:endParaRPr>
          </a:p>
          <a:p>
            <a:pPr marL="0" indent="0">
              <a:lnSpc>
                <a:spcPct val="100000"/>
              </a:lnSpc>
              <a:spcBef>
                <a:spcPct val="0"/>
              </a:spcBef>
              <a:spcAft>
                <a:spcPct val="0"/>
              </a:spcAft>
              <a:buFont typeface="Arial"/>
              <a:buChar char="•"/>
            </a:pPr>
            <a:endParaRPr lang="en-US" dirty="0">
              <a:solidFill>
                <a:schemeClr val="tx1"/>
              </a:solidFill>
              <a:latin typeface="Calibri"/>
              <a:ea typeface="Calibri"/>
              <a:cs typeface="Calibri"/>
            </a:endParaRPr>
          </a:p>
          <a:p>
            <a:pPr marL="0" indent="0">
              <a:lnSpc>
                <a:spcPct val="100000"/>
              </a:lnSpc>
              <a:spcBef>
                <a:spcPct val="0"/>
              </a:spcBef>
              <a:spcAft>
                <a:spcPct val="0"/>
              </a:spcAft>
              <a:buFontTx/>
              <a:buChar char="•"/>
            </a:pPr>
            <a:endParaRPr lang="en-US" altLang="en-US" dirty="0">
              <a:solidFill>
                <a:schemeClr val="tx1"/>
              </a:solidFill>
              <a:latin typeface="Arial" panose="020B0604020202020204" pitchFamily="34" charset="0"/>
              <a:cs typeface="Arial"/>
            </a:endParaRPr>
          </a:p>
        </p:txBody>
      </p:sp>
      <p:sp>
        <p:nvSpPr>
          <p:cNvPr id="3" name="TextBox 2">
            <a:extLst>
              <a:ext uri="{FF2B5EF4-FFF2-40B4-BE49-F238E27FC236}">
                <a16:creationId xmlns:a16="http://schemas.microsoft.com/office/drawing/2014/main" xmlns="" id="{5633F950-D969-55B7-D929-E9D819AADDF7}"/>
              </a:ext>
            </a:extLst>
          </p:cNvPr>
          <p:cNvSpPr txBox="1"/>
          <p:nvPr/>
        </p:nvSpPr>
        <p:spPr>
          <a:xfrm>
            <a:off x="331123" y="402059"/>
            <a:ext cx="515213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600" b="1" dirty="0" smtClean="0"/>
              <a:t>Confusion </a:t>
            </a:r>
            <a:r>
              <a:rPr lang="en-IN" sz="3600" b="1" dirty="0"/>
              <a:t>Matrix</a:t>
            </a:r>
            <a:endParaRPr lang="en-GB" sz="3600" b="1" dirty="0">
              <a:solidFill>
                <a:srgbClr val="000000"/>
              </a:solidFill>
              <a:ea typeface="Calibri"/>
              <a:cs typeface="Calibri"/>
            </a:endParaRPr>
          </a:p>
        </p:txBody>
      </p:sp>
    </p:spTree>
    <p:extLst>
      <p:ext uri="{BB962C8B-B14F-4D97-AF65-F5344CB8AC3E}">
        <p14:creationId xmlns:p14="http://schemas.microsoft.com/office/powerpoint/2010/main" val="46087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DF0FC9-7701-791C-3A23-917387CE98FE}"/>
              </a:ext>
            </a:extLst>
          </p:cNvPr>
          <p:cNvSpPr>
            <a:spLocks noGrp="1"/>
          </p:cNvSpPr>
          <p:nvPr>
            <p:ph type="title"/>
          </p:nvPr>
        </p:nvSpPr>
        <p:spPr>
          <a:xfrm>
            <a:off x="370703" y="603667"/>
            <a:ext cx="11142415" cy="607296"/>
          </a:xfrm>
        </p:spPr>
        <p:txBody>
          <a:bodyPr/>
          <a:lstStyle/>
          <a:p>
            <a:r>
              <a:rPr lang="en-US" dirty="0" smtClean="0">
                <a:latin typeface="Calibri"/>
                <a:ea typeface="Calibri"/>
                <a:cs typeface="Calibri"/>
              </a:rPr>
              <a:t>Performance </a:t>
            </a:r>
            <a:r>
              <a:rPr lang="en-US" dirty="0" err="1" smtClean="0">
                <a:latin typeface="Calibri"/>
                <a:ea typeface="Calibri"/>
                <a:cs typeface="Calibri"/>
              </a:rPr>
              <a:t>Camparison</a:t>
            </a:r>
            <a:endParaRPr lang="en-US" dirty="0">
              <a:ea typeface="Calibri"/>
              <a:cs typeface="Calibri"/>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883520904"/>
              </p:ext>
            </p:extLst>
          </p:nvPr>
        </p:nvGraphicFramePr>
        <p:xfrm>
          <a:off x="189470" y="2504302"/>
          <a:ext cx="12123288" cy="3088825"/>
        </p:xfrm>
        <a:graphic>
          <a:graphicData uri="http://schemas.openxmlformats.org/drawingml/2006/table">
            <a:tbl>
              <a:tblPr/>
              <a:tblGrid>
                <a:gridCol w="6061644"/>
                <a:gridCol w="6061644"/>
              </a:tblGrid>
              <a:tr h="617765">
                <a:tc>
                  <a:txBody>
                    <a:bodyPr/>
                    <a:lstStyle/>
                    <a:p>
                      <a:r>
                        <a:rPr lang="en-IN" dirty="0"/>
                        <a:t>Model</a:t>
                      </a:r>
                    </a:p>
                  </a:txBody>
                  <a:tcPr anchor="ctr">
                    <a:lnL>
                      <a:noFill/>
                    </a:lnL>
                    <a:lnR>
                      <a:noFill/>
                    </a:lnR>
                    <a:lnT>
                      <a:noFill/>
                    </a:lnT>
                    <a:lnB>
                      <a:noFill/>
                    </a:lnB>
                  </a:tcPr>
                </a:tc>
                <a:tc>
                  <a:txBody>
                    <a:bodyPr/>
                    <a:lstStyle/>
                    <a:p>
                      <a:r>
                        <a:rPr lang="en-IN"/>
                        <a:t>Accuracy</a:t>
                      </a:r>
                    </a:p>
                  </a:txBody>
                  <a:tcPr anchor="ctr">
                    <a:lnL>
                      <a:noFill/>
                    </a:lnL>
                    <a:lnR>
                      <a:noFill/>
                    </a:lnR>
                    <a:lnT>
                      <a:noFill/>
                    </a:lnT>
                    <a:lnB>
                      <a:noFill/>
                    </a:lnB>
                  </a:tcPr>
                </a:tc>
              </a:tr>
              <a:tr h="617765">
                <a:tc>
                  <a:txBody>
                    <a:bodyPr/>
                    <a:lstStyle/>
                    <a:p>
                      <a:r>
                        <a:rPr lang="en-IN"/>
                        <a:t>Logistic Regression</a:t>
                      </a:r>
                    </a:p>
                  </a:txBody>
                  <a:tcPr anchor="ctr">
                    <a:lnL>
                      <a:noFill/>
                    </a:lnL>
                    <a:lnR>
                      <a:noFill/>
                    </a:lnR>
                    <a:lnT>
                      <a:noFill/>
                    </a:lnT>
                    <a:lnB>
                      <a:noFill/>
                    </a:lnB>
                  </a:tcPr>
                </a:tc>
                <a:tc>
                  <a:txBody>
                    <a:bodyPr/>
                    <a:lstStyle/>
                    <a:p>
                      <a:r>
                        <a:rPr lang="en-IN" dirty="0" smtClean="0"/>
                        <a:t>0.846</a:t>
                      </a:r>
                      <a:endParaRPr lang="en-IN" dirty="0"/>
                    </a:p>
                  </a:txBody>
                  <a:tcPr anchor="ctr">
                    <a:lnL>
                      <a:noFill/>
                    </a:lnL>
                    <a:lnR>
                      <a:noFill/>
                    </a:lnR>
                    <a:lnT>
                      <a:noFill/>
                    </a:lnT>
                    <a:lnB>
                      <a:noFill/>
                    </a:lnB>
                  </a:tcPr>
                </a:tc>
              </a:tr>
              <a:tr h="617765">
                <a:tc>
                  <a:txBody>
                    <a:bodyPr/>
                    <a:lstStyle/>
                    <a:p>
                      <a:r>
                        <a:rPr lang="en-IN"/>
                        <a:t>Decision Tree</a:t>
                      </a:r>
                    </a:p>
                  </a:txBody>
                  <a:tcPr anchor="ctr">
                    <a:lnL>
                      <a:noFill/>
                    </a:lnL>
                    <a:lnR>
                      <a:noFill/>
                    </a:lnR>
                    <a:lnT>
                      <a:noFill/>
                    </a:lnT>
                    <a:lnB>
                      <a:noFill/>
                    </a:lnB>
                  </a:tcPr>
                </a:tc>
                <a:tc>
                  <a:txBody>
                    <a:bodyPr/>
                    <a:lstStyle/>
                    <a:p>
                      <a:r>
                        <a:rPr lang="en-US" dirty="0" smtClean="0"/>
                        <a:t>0.792</a:t>
                      </a:r>
                      <a:endParaRPr lang="en-IN" dirty="0"/>
                    </a:p>
                  </a:txBody>
                  <a:tcPr anchor="ctr">
                    <a:lnL>
                      <a:noFill/>
                    </a:lnL>
                    <a:lnR>
                      <a:noFill/>
                    </a:lnR>
                    <a:lnT>
                      <a:noFill/>
                    </a:lnT>
                    <a:lnB>
                      <a:noFill/>
                    </a:lnB>
                  </a:tcPr>
                </a:tc>
              </a:tr>
              <a:tr h="617765">
                <a:tc>
                  <a:txBody>
                    <a:bodyPr/>
                    <a:lstStyle/>
                    <a:p>
                      <a:r>
                        <a:rPr lang="en-IN"/>
                        <a:t>Random Forest</a:t>
                      </a:r>
                    </a:p>
                  </a:txBody>
                  <a:tcPr anchor="ctr">
                    <a:lnL>
                      <a:noFill/>
                    </a:lnL>
                    <a:lnR>
                      <a:noFill/>
                    </a:lnR>
                    <a:lnT>
                      <a:noFill/>
                    </a:lnT>
                    <a:lnB>
                      <a:noFill/>
                    </a:lnB>
                  </a:tcPr>
                </a:tc>
                <a:tc>
                  <a:txBody>
                    <a:bodyPr/>
                    <a:lstStyle/>
                    <a:p>
                      <a:r>
                        <a:rPr lang="en-US" dirty="0" smtClean="0"/>
                        <a:t>0.866</a:t>
                      </a:r>
                      <a:endParaRPr lang="en-IN" dirty="0"/>
                    </a:p>
                  </a:txBody>
                  <a:tcPr anchor="ctr">
                    <a:lnL>
                      <a:noFill/>
                    </a:lnL>
                    <a:lnR>
                      <a:noFill/>
                    </a:lnR>
                    <a:lnT>
                      <a:noFill/>
                    </a:lnT>
                    <a:lnB>
                      <a:noFill/>
                    </a:lnB>
                  </a:tcPr>
                </a:tc>
              </a:tr>
              <a:tr h="617765">
                <a:tc>
                  <a:txBody>
                    <a:bodyPr/>
                    <a:lstStyle/>
                    <a:p>
                      <a:r>
                        <a:rPr lang="en-IN" dirty="0" smtClean="0"/>
                        <a:t>Support Vector Classifier</a:t>
                      </a:r>
                      <a:endParaRPr lang="en-IN" dirty="0"/>
                    </a:p>
                  </a:txBody>
                  <a:tcPr anchor="ctr">
                    <a:lnL>
                      <a:noFill/>
                    </a:lnL>
                    <a:lnR>
                      <a:noFill/>
                    </a:lnR>
                    <a:lnT>
                      <a:noFill/>
                    </a:lnT>
                    <a:lnB>
                      <a:noFill/>
                    </a:lnB>
                  </a:tcPr>
                </a:tc>
                <a:tc>
                  <a:txBody>
                    <a:bodyPr/>
                    <a:lstStyle/>
                    <a:p>
                      <a:r>
                        <a:rPr lang="en-US" dirty="0" smtClean="0"/>
                        <a:t>0.810</a:t>
                      </a:r>
                      <a:endParaRPr lang="en-IN" dirty="0"/>
                    </a:p>
                  </a:txBody>
                  <a:tcPr anchor="ctr">
                    <a:lnL>
                      <a:noFill/>
                    </a:lnL>
                    <a:lnR>
                      <a:noFill/>
                    </a:lnR>
                    <a:lnT>
                      <a:noFill/>
                    </a:lnT>
                    <a:lnB>
                      <a:noFill/>
                    </a:lnB>
                  </a:tcPr>
                </a:tc>
              </a:tr>
            </a:tbl>
          </a:graphicData>
        </a:graphic>
      </p:graphicFrame>
      <p:sp>
        <p:nvSpPr>
          <p:cNvPr id="4" name="Rectangle 1"/>
          <p:cNvSpPr>
            <a:spLocks noChangeArrowheads="1"/>
          </p:cNvSpPr>
          <p:nvPr/>
        </p:nvSpPr>
        <p:spPr bwMode="auto">
          <a:xfrm>
            <a:off x="0" y="1383255"/>
            <a:ext cx="1364773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Arial" charset="0"/>
                <a:cs typeface="Arial" charset="0"/>
              </a:rPr>
              <a:t>    </a:t>
            </a:r>
            <a:r>
              <a:rPr kumimoji="0" lang="en-US" sz="2000" b="1" i="0" u="none" strike="noStrike" cap="none" normalizeH="0" baseline="0" dirty="0" smtClean="0">
                <a:ln>
                  <a:noFill/>
                </a:ln>
                <a:solidFill>
                  <a:schemeClr val="tx1"/>
                </a:solidFill>
                <a:effectLst/>
                <a:latin typeface="Arial" charset="0"/>
                <a:cs typeface="Arial" charset="0"/>
              </a:rPr>
              <a:t>Performance Comparison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Arial" charset="0"/>
                <a:cs typeface="Arial" charset="0"/>
              </a:rPr>
              <a:t>    Random Forest and the Support Vector</a:t>
            </a:r>
            <a:r>
              <a:rPr kumimoji="0" lang="en-US" b="0" i="0" u="none" strike="noStrike" cap="none" normalizeH="0" dirty="0" smtClean="0">
                <a:ln>
                  <a:noFill/>
                </a:ln>
                <a:solidFill>
                  <a:schemeClr val="tx1"/>
                </a:solidFill>
                <a:effectLst/>
                <a:latin typeface="Arial" charset="0"/>
                <a:cs typeface="Arial" charset="0"/>
              </a:rPr>
              <a:t> </a:t>
            </a:r>
            <a:r>
              <a:rPr kumimoji="0" lang="en-US" b="0" i="0" u="none" strike="noStrike" cap="none" normalizeH="0" baseline="0" dirty="0" smtClean="0">
                <a:ln>
                  <a:noFill/>
                </a:ln>
                <a:solidFill>
                  <a:schemeClr val="tx1"/>
                </a:solidFill>
                <a:effectLst/>
                <a:latin typeface="Arial" charset="0"/>
                <a:cs typeface="Arial" charset="0"/>
              </a:rPr>
              <a:t>Classifier achieved the highest prediction performance due to their ability to capture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Arial" charset="0"/>
                <a:cs typeface="Arial" charset="0"/>
              </a:rPr>
              <a:t>    complex relationships within the financial data</a:t>
            </a:r>
            <a:r>
              <a:rPr kumimoji="0" lang="en-US" sz="800" b="0" i="0" u="none" strike="noStrike" cap="none" normalizeH="0" baseline="0" dirty="0" smtClean="0">
                <a:ln>
                  <a:noFill/>
                </a:ln>
                <a:solidFill>
                  <a:schemeClr val="tx1"/>
                </a:solidFill>
                <a:effectLst/>
                <a:latin typeface="Arial" charset="0"/>
                <a:cs typeface="Arial" charset="0"/>
              </a:rPr>
              <a:t>.</a:t>
            </a:r>
            <a:endParaRPr kumimoji="0" lang="en-US" sz="18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1820008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CB1112-C211-666A-7E4D-EB2920BA8221}"/>
              </a:ext>
            </a:extLst>
          </p:cNvPr>
          <p:cNvSpPr>
            <a:spLocks noGrp="1"/>
          </p:cNvSpPr>
          <p:nvPr>
            <p:ph type="title"/>
          </p:nvPr>
        </p:nvSpPr>
        <p:spPr/>
        <p:txBody>
          <a:bodyPr/>
          <a:lstStyle/>
          <a:p>
            <a:r>
              <a:rPr lang="en-GB">
                <a:latin typeface="Calibri"/>
                <a:ea typeface="Calibri"/>
                <a:cs typeface="Calibri"/>
              </a:rPr>
              <a:t>Conclusion</a:t>
            </a:r>
            <a:endParaRPr lang="en-GB"/>
          </a:p>
        </p:txBody>
      </p:sp>
      <p:sp>
        <p:nvSpPr>
          <p:cNvPr id="3" name="Content Placeholder 2">
            <a:extLst>
              <a:ext uri="{FF2B5EF4-FFF2-40B4-BE49-F238E27FC236}">
                <a16:creationId xmlns:a16="http://schemas.microsoft.com/office/drawing/2014/main" xmlns="" id="{0CAD5756-BA67-E1F1-B08F-EDB6B3D0829C}"/>
              </a:ext>
            </a:extLst>
          </p:cNvPr>
          <p:cNvSpPr>
            <a:spLocks noGrp="1"/>
          </p:cNvSpPr>
          <p:nvPr>
            <p:ph idx="1"/>
          </p:nvPr>
        </p:nvSpPr>
        <p:spPr>
          <a:xfrm>
            <a:off x="280086" y="1589903"/>
            <a:ext cx="11233032" cy="4483238"/>
          </a:xfrm>
        </p:spPr>
        <p:txBody>
          <a:bodyPr vert="horz" lIns="91440" tIns="45720" rIns="91440" bIns="45720" rtlCol="0" anchor="t">
            <a:normAutofit/>
          </a:bodyPr>
          <a:lstStyle/>
          <a:p>
            <a:r>
              <a:rPr lang="en-US" sz="1800" dirty="0" smtClean="0"/>
              <a:t>This </a:t>
            </a:r>
            <a:r>
              <a:rPr lang="en-US" sz="1800" dirty="0"/>
              <a:t>project demonstrates that machine learning can successfully identify companies at risk of bankruptcy using financial indicators.</a:t>
            </a:r>
          </a:p>
          <a:p>
            <a:r>
              <a:rPr lang="en-US" sz="1800" dirty="0"/>
              <a:t>Among the evaluated algorithms, ensemble methods produced the best overall performance, making them suitable for real-world financial risk assessment. The developed model can support organizations in making proactive and data-driven financial decisions.</a:t>
            </a:r>
          </a:p>
          <a:p>
            <a:endParaRPr lang="en-GB" dirty="0">
              <a:ea typeface="Calibri"/>
              <a:cs typeface="Calibri"/>
            </a:endParaRPr>
          </a:p>
        </p:txBody>
      </p:sp>
    </p:spTree>
    <p:extLst>
      <p:ext uri="{BB962C8B-B14F-4D97-AF65-F5344CB8AC3E}">
        <p14:creationId xmlns:p14="http://schemas.microsoft.com/office/powerpoint/2010/main" val="428797193"/>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7080</TotalTime>
  <Words>344</Words>
  <Application>Microsoft Office PowerPoint</Application>
  <PresentationFormat>Custom</PresentationFormat>
  <Paragraphs>102</Paragraphs>
  <Slides>12</Slides>
  <Notes>7</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BIA Template</vt:lpstr>
      <vt:lpstr>PowerPoint Presentation</vt:lpstr>
      <vt:lpstr>Problem Statement    </vt:lpstr>
      <vt:lpstr> Objectives </vt:lpstr>
      <vt:lpstr>PowerPoint Presentation</vt:lpstr>
      <vt:lpstr>1.Methodology 2.Data Collection  3.Data Cleaning  4.Exploratory Data Analysis  5.Feature Selection  6.Data Splitting  7.Model Building  8.Model Evaluation  9.Performance Comparison    </vt:lpstr>
      <vt:lpstr>The dataset was prepared before training the models.     Steps Performed:  1.Removed duplicate records  2.Checked missing values  3.Standardized numerical features  4.Balanced target classes where required  5.Split data into training and testing datasets   Proper preprocessing improves model accuracy and reduces prediction errors   </vt:lpstr>
      <vt:lpstr>PowerPoint Presentation</vt:lpstr>
      <vt:lpstr>PowerPoint Presentation</vt:lpstr>
      <vt:lpstr>PowerPoint Presentation</vt:lpstr>
      <vt:lpstr>PowerPoint Presentation</vt:lpstr>
      <vt:lpstr>Performance Camparison</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USER</cp:lastModifiedBy>
  <cp:revision>3700</cp:revision>
  <dcterms:created xsi:type="dcterms:W3CDTF">2020-12-23T13:36:00Z</dcterms:created>
  <dcterms:modified xsi:type="dcterms:W3CDTF">2026-07-15T04:20:48Z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